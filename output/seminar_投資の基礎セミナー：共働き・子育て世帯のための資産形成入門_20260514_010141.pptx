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自己紹介とともに、本日のゴールは『投資の全体像を理解し、明日から動ける状態になること』であると伝える。参加者の緊張を解くために、ご自身も子育て世代であることを共有。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全体の流れを示し、参加者の安心感を作る。質問は随時OKであることを伝える。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セクションの導入。子育て世帯ならではの不安に共感を示しながら入る。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『お金を預けているのに減る』という感覚を数字で伝える。卵やパンの値上げなど身近な例で実感を引き出す。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数字に圧倒されるが、『だからこそ早く・少しずつ』が大切だと伝える。投資は怖いものではなく、未来への準備の手段。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複利の威力を具体的な数字で示す。『時間』こそ若い世代の最大の武器であることを強調。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投資の代表的な2つの手段を整理する。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個別株は『1社の運命に賭ける』、投資信託は『カゴに卵を分けて入れる』とたとえると分かりやすい。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忙しい子育て世帯にぴったりであることを強調。『ほったらかし投資』というキーワードも紹介。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投資先の『国』という視点を導入。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数字で成長性を比較。ただし『過去の実績＝将来の保証ではない』ことも必ず伝える。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『1つに絞らず分散』というのが世界の常識。具体的な商品名（eMAXIS Slim全世界株式など）にも軽く触れる。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ここが本日のメインパート。じっくり時間をかける。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表で整理しながら説明。共働き世帯は『2人とも口座を作れる』ことが大きなメリット。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順番が大事。流動性のあるNISAを優先し、iDeCoは『絶対に老後まで使わない資金』に充てる。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参加者が自分ごと化できるリアルなケースを提示。あくまでシミュレーションで、保証ではないことも添える。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今日のキーメッセージを再確認。『始めること』のハードルを下げる声かけを忘れずに。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押し売り感を出さず、『迷ったら相談できる場所がある』という安心感を伝える。QRコードで導線を分かりやすく。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5303520"/>
            <a:ext cx="2587752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0" y="5943600"/>
            <a:ext cx="1216152" cy="9144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A96E"/>
                </a:solidFill>
              </a:rPr>
              <a:t>30〜40代の共働き・子育て世帯（投資初心者〜初級者）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投資の基礎セミナー：共働き・子育て世帯のための資産形成入門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069080"/>
            <a:ext cx="3200400" cy="54864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A96E"/>
                </a:solidFill>
              </a:rPr>
              <a:t>なぜいま投資が必要か／株式vs投資信託／日本株vs米国株／NISA vs iDeCo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ファイナンシャルプランナー　勝目麻希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96E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本日のアジェンダ（90分）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81912"/>
            <a:ext cx="475488" cy="47548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591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</a:rPr>
              <a:t>1. なぜいま投資が必要なのか？（15分）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475488" cy="475488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8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4323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2. 株式 vs 投資信託：違いと選び方（20分）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64408"/>
            <a:ext cx="475488" cy="47548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36976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273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3. 日本株 vs 米国株：地域分散の考え方（20分）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581912"/>
            <a:ext cx="475488" cy="4754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1591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</a:rPr>
              <a:t>4. NISA vs iDeCo：共働き世帯の使い分け（25分）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23160"/>
            <a:ext cx="475488" cy="47548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395728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4323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5. まとめ・次の一歩・Q&amp;A（10分）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2 /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Part1：なぜいま投資が必要なのか？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貯金だけでは資産が『目減り』する時代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共働き世帯が向き合う3つの資金課題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3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貯金だけでは増えない・むしろ減る現実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普通預金金利：年0.001〜0.2%（100万円預けて1年で数十〜数千円）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物価上昇率：年2〜3%（食料品・光熱費・教育費）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実質的に毎年お金の価値が2%減っているのと同じ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100万円が10年後には実質約82万円の価値に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4 /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子育て世帯が直面する3つの大きな出費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①教育費：子ども1人あたり1,000万〜2,500万円（幼稚園〜大学）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②住宅費：住宅ローン平均3,000〜4,000万円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③老後資金：夫婦で2,000万円問題（年金だけでは不足）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→ 合計で1億円規模のライフイベントが待っている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5 /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投資の味方：時間と複利の力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毎月3万円を年利5%で20年間積立 → 約1,233万円（元本720万円）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毎月3万円を年利5%で30年間積立 → 約2,497万円（元本1,080万円）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10年の差で『1,260万円』もの違い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ポイント：早く始めるほど『増える力』が働く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6 /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Part2：株式 vs 投資信託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それぞれの特徴と、初心者に向いているのは？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7 /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株式と投資信託：基本の違い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【個別株式】特定の会社の株を自分で選んで買う／値動き大／配当・株主優待あり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【投資信託】複数の株や債券をまとめてパッケージ化／プロが運用／少額・分散OK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個別株：ハイリスク・ハイリターン／時間と知識が必要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投資信託：分散効果あり／月100円からOK／忙しい世帯に最適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8 /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共働き・子育て世帯には『投資信託』が基本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忙しくて個別企業の分析時間が取れない → 投資信託でプロにお任せ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少額・自動積立が可能 → 家計に組み込みやすい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1本で世界中に分散投資できる商品もある（全世界株式・S&amp;P500など）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信託報酬（コスト）が低いインデックスファンドを選ぶのがコツ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9 /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Part3：日本株 vs 米国株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どこに投資する？地域分散の考え方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10 /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日本株と米国株：成長性の違い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【日経平均】1989年高値38,915円 → 約35年かけて回復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【S&amp;P500】過去30年で約10倍に成長（年平均約8〜10%）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米国：人口増加・技術革新・株主重視の文化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日本：成熟市場・配当や優待が魅力／円建てで為替リスクなし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11 /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結論：『どちらか』ではなく『分散』が正解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米国だけ：成長性◎ だが 為替リスク・一国集中リスクあり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日本だけ：為替リスクなし だが 成長性が課題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全世界株式（オルカン）：米国約60%＋日本＋新興国を1本でカバー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迷ったら『全世界株式』または『S&amp;P500＋日本株』の組み合わせがおすすめ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12 /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Part4：NISA vs iDeCo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共働き世帯の最強の節税制度をどう使い分ける？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13 /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NISAとiDeCo：制度の比較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【新NISA】年間最大360万円・生涯1,800万円／いつでも引き出しOK／運用益が非課税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【iDeCo】月1.2万〜2.3万円（会社員）／60歳まで引き出し不可／掛金が全額所得控除＋運用益非課税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NISAの強み：流動性（教育費にも使える）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iDeCoの強み：所得税・住民税の節税効果（年収500万円なら年約5.5万円戻る）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14 /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共働き世帯の使い分け戦略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STEP1：まずはNISAで月3〜5万円から積立スタート（教育費の備えにも）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STEP2：家計に余裕が出たらiDeCoを追加（節税メリットを獲得）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STEP3：夫婦それぞれの口座を活用（合計上限が2倍に）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例：夫婦でNISA月10万円＋iDeCo月4万円 → 年168万円を非課税で運用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15 /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INFO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ケーススタディ：30代共働き夫婦の実例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1A2B4A"/>
                </a:solidFill>
              </a:rPr>
              <a:t>▶  夫35歳・妻33歳・子ども1人（3歳）・世帯年収800万円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23A5E"/>
                </a:solidFill>
              </a:rPr>
              <a:t>▶  夫婦でNISA各月3万円（計6万円）→ 全世界株式インデックス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1A2B4A"/>
                </a:solidFill>
              </a:rPr>
              <a:t>▶  夫iDeCo月2.3万円 → 所得控除で年約8万円の節税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223A5E"/>
                </a:solidFill>
              </a:rPr>
              <a:t>▶  20年後の予想資産：約2,500万円（年利5%想定）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1A2B4A"/>
                </a:solidFill>
              </a:rPr>
              <a:t>▶  → 教育費＋老後資金の両立が見えてくる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16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128016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96E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本日のまとめ：3つのポイント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715000" cy="192024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532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①インフレ時代、貯金だけでは資産は目減りする → 投資は『守り』でもある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715000" cy="192024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532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②忙しい子育て世帯は『投資信託＋全世界 or 米国株』が基本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11880"/>
            <a:ext cx="5715000" cy="192024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5532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③NISAを軸に、iDeCoで節税を上乗せ。夫婦2人分の枠を活用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5715000" cy="1920240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114800"/>
            <a:ext cx="5532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完璧を目指さず、月1万円からでも『始めること』が最大の差になる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17 /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128016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96E"/>
                </a:solidFill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次の一歩：おうちCFO FP相談へ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810000" cy="192024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62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わが家に最適な投資配分を知りたい方へ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2920" y="1508760"/>
            <a:ext cx="3810000" cy="192024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2920" y="150876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292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2011680"/>
            <a:ext cx="362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個別相談で『家計×投資×教育費』をトータル設計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0080" y="1508760"/>
            <a:ext cx="3810000" cy="192024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0080" y="150876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008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2011680"/>
            <a:ext cx="362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クレジットカード・ポイント活用で投資資金を捻出するコツもお伝えします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11880"/>
            <a:ext cx="3810000" cy="1920240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362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▶ 初回相談受付中：https://fp-makikatsume.com/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2920" y="3611880"/>
            <a:ext cx="3810000" cy="192024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12920" y="361188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2920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4360" y="4114800"/>
            <a:ext cx="362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ご質問・ご感想もお気軽にどうぞ！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18 / 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