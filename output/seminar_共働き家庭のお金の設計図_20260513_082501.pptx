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自己紹介とともに、本日は『家庭をひとつの会社』に見立てて、お金の設計図を一緒に描いていくセミナーであることを伝えます。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60分の全体像を提示し、参加者が安心して聞ける構成であることを伝えます。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共働き世帯特有の『お金の見えない化』を共感ベースで紹介。多くの家庭が抱える悩みであることを伝え、自分ごと化を促します。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『おうちCFO』というコンセプトを紹介。会社経営になぞらえることで、家計を戦略的に考える視点を提供します。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家計管理の基本は『目的別に分ける』こと。3つの財布の考え方を具体的な比率とともに紹介します。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教育費の総額を数字で示し、『早く始める＝月々の負担が少ない』ことを実感してもらいます。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共働きならではのメリットを強調。2人で資産形成枠をフル活用できる点を伝えます。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新NISAの基本を整理し、夫婦で活用することのインパクトを数字で示します。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iDeCoの3つの税制メリットを整理。NISAとの使い分けも軽く触れます。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おうちCFOならではの実践的アドバイス。日常の小さな工夫が長期で大きな差になることを伝えます。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完璧主義にならず、できることから始めるよう促します。小さな一歩が10年後に大きな差を生むことを強調。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個別相談への導線を案内。押しつけず『選択肢のひとつ』として提示。QRコードでスマホからすぐアクセスできるようにします。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-2011680"/>
            <a:ext cx="5943600" cy="5943600"/>
          </a:xfrm>
          <a:prstGeom prst="ellipse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274320"/>
            <a:ext cx="2194560" cy="2194560"/>
          </a:xfrm>
          <a:prstGeom prst="ellipse">
            <a:avLst/>
          </a:prstGeom>
          <a:solidFill>
            <a:srgbClr val="9A7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38560" y="1371600"/>
            <a:ext cx="914400" cy="914400"/>
          </a:xfrm>
          <a:prstGeom prst="ellipse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0"/>
            <a:ext cx="12188952" cy="54864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691640"/>
            <a:ext cx="164592" cy="164592"/>
          </a:xfrm>
          <a:prstGeom prst="ellipse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" y="1691640"/>
            <a:ext cx="164592" cy="164592"/>
          </a:xfrm>
          <a:prstGeom prst="ellipse">
            <a:avLst/>
          </a:prstGeom>
          <a:solidFill>
            <a:srgbClr val="55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54480" y="1691640"/>
            <a:ext cx="164592" cy="164592"/>
          </a:xfrm>
          <a:prstGeom prst="ellipse">
            <a:avLst/>
          </a:prstGeom>
          <a:solidFill>
            <a:srgbClr val="55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65960" y="1691640"/>
            <a:ext cx="164592" cy="164592"/>
          </a:xfrm>
          <a:prstGeom prst="ellipse">
            <a:avLst/>
          </a:prstGeom>
          <a:solidFill>
            <a:srgbClr val="55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0515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D0A0"/>
                </a:solidFill>
              </a:rPr>
              <a:t>共働き・子育て世帯（30〜40代）の夫婦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965960"/>
            <a:ext cx="9875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共働き家庭のお金の設計図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4206240"/>
            <a:ext cx="3840480" cy="8229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40740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8D0A0"/>
                </a:solidFill>
              </a:rPr>
              <a:t>夫婦で築く、未来に強い家計の作り方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852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BBBB"/>
                </a:solidFill>
              </a:rPr>
              <a:t>ファイナンシャルプランナー　勝目麻希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5623560"/>
            <a:ext cx="2286000" cy="5486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5623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</a:rPr>
              <a:t>約60分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91440"/>
            <a:ext cx="1097280" cy="1097280"/>
          </a:xfrm>
          <a:prstGeom prst="ellipse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96E"/>
                </a:solidFill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"/>
            <a:ext cx="10789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本日のアジェンダ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55064"/>
            <a:ext cx="5394960" cy="731520"/>
          </a:xfrm>
          <a:prstGeom prst="rect">
            <a:avLst/>
          </a:prstGeom>
          <a:solidFill>
            <a:srgbClr val="EB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46504"/>
            <a:ext cx="502920" cy="502920"/>
          </a:xfrm>
          <a:prstGeom prst="ellipse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1907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792224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4A"/>
                </a:solidFill>
              </a:rPr>
              <a:t>1. 共働き家庭が抱えるお金の悩み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42032"/>
            <a:ext cx="53949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2633472"/>
            <a:ext cx="502920" cy="502920"/>
          </a:xfrm>
          <a:prstGeom prst="ellipse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060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67919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</a:rPr>
              <a:t>2. 家庭をひとつの『会社』として考える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29000"/>
            <a:ext cx="5394960" cy="731520"/>
          </a:xfrm>
          <a:prstGeom prst="rect">
            <a:avLst/>
          </a:prstGeom>
          <a:solidFill>
            <a:srgbClr val="EB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3520440"/>
            <a:ext cx="502920" cy="50292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9300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5661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</a:rPr>
              <a:t>3. 家計の見える化と3つの財布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315968"/>
            <a:ext cx="53949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407408"/>
            <a:ext cx="502920" cy="502920"/>
          </a:xfrm>
          <a:prstGeom prst="ellipse">
            <a:avLst/>
          </a:prstGeom>
          <a:solidFill>
            <a:srgbClr val="2E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379976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45312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</a:rPr>
              <a:t>4. 教育費・住宅・老後の3大支出を設計する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1655064"/>
            <a:ext cx="5394960" cy="731520"/>
          </a:xfrm>
          <a:prstGeom prst="rect">
            <a:avLst/>
          </a:prstGeom>
          <a:solidFill>
            <a:srgbClr val="EB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0" y="1746504"/>
            <a:ext cx="502920" cy="502920"/>
          </a:xfrm>
          <a:prstGeom prst="ellipse">
            <a:avLst/>
          </a:prstGeom>
          <a:solidFill>
            <a:srgbClr val="C8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71907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8" y="1792224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</a:rPr>
              <a:t>5. NISA・iDeCoで未来に備える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2542032"/>
            <a:ext cx="53949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92240" y="2633472"/>
            <a:ext cx="502920" cy="502920"/>
          </a:xfrm>
          <a:prstGeom prst="ellipse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6060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4888" y="267919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</a:rPr>
              <a:t>6. クレカ・ポイント活用で家計を底上げ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3429000"/>
            <a:ext cx="5394960" cy="731520"/>
          </a:xfrm>
          <a:prstGeom prst="rect">
            <a:avLst/>
          </a:prstGeom>
          <a:solidFill>
            <a:srgbClr val="EB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92240" y="3520440"/>
            <a:ext cx="502920" cy="502920"/>
          </a:xfrm>
          <a:prstGeom prst="ellipse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49300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4888" y="35661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</a:rPr>
              <a:t>7. まとめ／個別相談のご案内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889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5680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2 / 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7548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共働き家庭にありがちな『お金のすれ違い』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27048"/>
            <a:ext cx="5577840" cy="22402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527048"/>
            <a:ext cx="5577840" cy="914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69164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8A96E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1691640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お互いの収入・貯蓄額を知らない（約4割の夫婦）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8" y="1527048"/>
            <a:ext cx="5577840" cy="2240280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1928" y="1527048"/>
            <a:ext cx="5577840" cy="91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69164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A90D9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691640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『相手が貯めているはず』問題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977640"/>
            <a:ext cx="5577840" cy="22402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977640"/>
            <a:ext cx="5577840" cy="914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414223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8A96E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42232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教育費・老後資金の話を後回しにしがち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1928" y="3977640"/>
            <a:ext cx="5577840" cy="224028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81928" y="3977640"/>
            <a:ext cx="5577840" cy="91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414223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A90D9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142232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ポイント・サブスクが家庭ごとに重複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0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3 /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7548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家庭は『ひとつの会社』である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27048"/>
            <a:ext cx="5577840" cy="22402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527048"/>
            <a:ext cx="5577840" cy="914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69164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8A96E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1691640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夫婦＝共同経営者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8" y="1527048"/>
            <a:ext cx="5577840" cy="2240280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1928" y="1527048"/>
            <a:ext cx="5577840" cy="91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69164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A90D9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691640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家計＝会社の財務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977640"/>
            <a:ext cx="5577840" cy="22402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977640"/>
            <a:ext cx="5577840" cy="914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414223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8A96E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42232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必要なのは『おうちのCFO（最高財務責任者）』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1928" y="3977640"/>
            <a:ext cx="5577840" cy="224028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81928" y="3977640"/>
            <a:ext cx="5577840" cy="91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414223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A90D9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142232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CFO視点で長期戦略を描くことが家庭の安心につながる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0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4 /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7548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家計の見える化：3つの財布で整理する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27048"/>
            <a:ext cx="5577840" cy="22402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527048"/>
            <a:ext cx="5577840" cy="914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69164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8A96E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1691640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①日常財布：生活費（食費・光熱費・通信費）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8" y="1527048"/>
            <a:ext cx="5577840" cy="2240280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1928" y="1527048"/>
            <a:ext cx="5577840" cy="91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69164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A90D9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691640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②未来財布：教育費・住宅・車などの中期目標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977640"/>
            <a:ext cx="5577840" cy="22402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977640"/>
            <a:ext cx="5577840" cy="914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414223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8A96E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42232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③長期財布：老後資金・資産形成（NISA・iDeCo）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1928" y="3977640"/>
            <a:ext cx="5577840" cy="224028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81928" y="3977640"/>
            <a:ext cx="5577840" cy="91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414223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A90D9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142232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目安：手取りの50%／30%／20%で配分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0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5 /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7548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教育費の設計：いつ・いくら必要？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27048"/>
            <a:ext cx="5577840" cy="22402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527048"/>
            <a:ext cx="5577840" cy="914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69164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8A96E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1691640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幼稚園〜大学までオール公立で約800万円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8" y="1527048"/>
            <a:ext cx="5577840" cy="2240280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1928" y="1527048"/>
            <a:ext cx="5577840" cy="91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69164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A90D9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691640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オール私立（理系）なら2,200万円超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977640"/>
            <a:ext cx="5577840" cy="22402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977640"/>
            <a:ext cx="5577840" cy="914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414223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8A96E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42232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ピークは大学進学時の18歳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1928" y="3977640"/>
            <a:ext cx="5577840" cy="224028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81928" y="3977640"/>
            <a:ext cx="5577840" cy="91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414223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A90D9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142232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毎月1.5万円×18年の積立＋運用で備えるのが現実的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0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6 /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7548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老後資金：共働きだからこその強みを活かす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27048"/>
            <a:ext cx="5577840" cy="22402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527048"/>
            <a:ext cx="5577840" cy="914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69164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8A96E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1691640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夫婦の年金はおおよそ月22〜25万円（厚生年金加入の場合）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8" y="1527048"/>
            <a:ext cx="5577840" cy="2240280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1928" y="1527048"/>
            <a:ext cx="5577840" cy="91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69164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A90D9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691640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ゆとりある生活には月36万円が目安（生命保険文化センター）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977640"/>
            <a:ext cx="5577840" cy="22402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977640"/>
            <a:ext cx="5577840" cy="914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414223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8A96E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42232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不足分は『自分年金』として準備が必要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1928" y="3977640"/>
            <a:ext cx="5577840" cy="224028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81928" y="3977640"/>
            <a:ext cx="5577840" cy="91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414223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A90D9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142232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共働きは2人分のiDeCo・NISA枠が使える最大の強み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0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7 /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7548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新NISA：夫婦で最大3,600万円の非課税枠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27048"/>
            <a:ext cx="5577840" cy="22402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527048"/>
            <a:ext cx="5577840" cy="914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69164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8A96E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1691640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1人あたり年間360万円・生涯1,800万円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8" y="1527048"/>
            <a:ext cx="5577840" cy="2240280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1928" y="1527048"/>
            <a:ext cx="5577840" cy="91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69164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A90D9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691640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夫婦合わせて生涯3,600万円が非課税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977640"/>
            <a:ext cx="5577840" cy="22402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977640"/>
            <a:ext cx="5577840" cy="914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414223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8A96E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42232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つみたて投資枠：長期・分散・積立に最適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1928" y="3977640"/>
            <a:ext cx="5577840" cy="224028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81928" y="3977640"/>
            <a:ext cx="5577840" cy="91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414223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A90D9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142232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成長投資枠：個別株・ETFで柔軟に運用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0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8 /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7548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iDeCo：節税しながら老後資金を作る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27048"/>
            <a:ext cx="5577840" cy="22402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527048"/>
            <a:ext cx="5577840" cy="914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69164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8A96E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1691640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掛金が全額所得控除（年収500万円なら年5.5万円の節税）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8" y="1527048"/>
            <a:ext cx="5577840" cy="2240280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1928" y="1527048"/>
            <a:ext cx="5577840" cy="91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69164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A90D9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691640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運用益も非課税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977640"/>
            <a:ext cx="5577840" cy="22402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977640"/>
            <a:ext cx="5577840" cy="914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414223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8A96E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42232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受取時も控除あり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1928" y="3977640"/>
            <a:ext cx="5577840" cy="224028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81928" y="3977640"/>
            <a:ext cx="5577840" cy="91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414223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A90D9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142232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60歳まで引き出せないため『老後専用財布』として最適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0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9 /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7548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クレカ・ポイント活用で家計を底上げ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27048"/>
            <a:ext cx="5577840" cy="22402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527048"/>
            <a:ext cx="5577840" cy="914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69164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8A96E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1691640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固定費をクレカ集約で年間3〜5万円分のポイント獲得も可能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8" y="1527048"/>
            <a:ext cx="5577840" cy="2240280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1928" y="1527048"/>
            <a:ext cx="5577840" cy="91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69164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A90D9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691640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夫婦で家族カードを活用し、家計を一元管理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977640"/>
            <a:ext cx="5577840" cy="22402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977640"/>
            <a:ext cx="5577840" cy="914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414223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8A96E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42232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ポイントは『投資』に回すことで複利効果UP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1928" y="3977640"/>
            <a:ext cx="5577840" cy="224028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81928" y="3977640"/>
            <a:ext cx="5577840" cy="91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414223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A90D9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142232"/>
            <a:ext cx="4617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“塵も積もれば”の年間効果は侮れない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0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10 /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2286000"/>
            <a:ext cx="6400800" cy="6400800"/>
          </a:xfrm>
          <a:prstGeom prst="ellipse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0"/>
            <a:ext cx="12188952" cy="54864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288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96E"/>
                </a:solidFill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まとめ：今日から始める3つのステップ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481328"/>
            <a:ext cx="3200400" cy="7315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691640"/>
            <a:ext cx="5715000" cy="1965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691640"/>
            <a:ext cx="5715000" cy="8229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1208" y="1874520"/>
            <a:ext cx="411480" cy="411480"/>
          </a:xfrm>
          <a:prstGeom prst="ellipse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8562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350008"/>
            <a:ext cx="544068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①夫婦でお金の現状を『見える化』する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1691640"/>
            <a:ext cx="5715000" cy="196596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1691640"/>
            <a:ext cx="5715000" cy="8229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45936" y="1874520"/>
            <a:ext cx="411480" cy="411480"/>
          </a:xfrm>
          <a:prstGeom prst="ellipse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8562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B4A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350008"/>
            <a:ext cx="544068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②3つの財布で目的別に整理する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886200"/>
            <a:ext cx="5715000" cy="1965960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3886200"/>
            <a:ext cx="5715000" cy="8229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1208" y="4069080"/>
            <a:ext cx="411480" cy="411480"/>
          </a:xfrm>
          <a:prstGeom prst="ellipse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" y="40507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B4A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4544568"/>
            <a:ext cx="544068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③NISA・iDeCo・ポイント活用で未来に備える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8776" y="3886200"/>
            <a:ext cx="5715000" cy="196596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8776" y="3886200"/>
            <a:ext cx="5715000" cy="8229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45936" y="4069080"/>
            <a:ext cx="411480" cy="411480"/>
          </a:xfrm>
          <a:prstGeom prst="ellipse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40507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B4A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4544568"/>
            <a:ext cx="544068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完璧でなくてOK。まずは一歩から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889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0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11 /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2286000"/>
            <a:ext cx="6400800" cy="6400800"/>
          </a:xfrm>
          <a:prstGeom prst="ellipse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0"/>
            <a:ext cx="12188952" cy="54864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288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96E"/>
                </a:solidFill>
              </a:rPr>
              <a:t>NEXT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おうちCFO FP相談のご案内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481328"/>
            <a:ext cx="3200400" cy="7315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691640"/>
            <a:ext cx="5715000" cy="1965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691640"/>
            <a:ext cx="5715000" cy="8229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1208" y="1874520"/>
            <a:ext cx="411480" cy="411480"/>
          </a:xfrm>
          <a:prstGeom prst="ellipse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8562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350008"/>
            <a:ext cx="544068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あなたの家庭専属のCFOがサポート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1691640"/>
            <a:ext cx="5715000" cy="196596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1691640"/>
            <a:ext cx="5715000" cy="8229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45936" y="1874520"/>
            <a:ext cx="411480" cy="411480"/>
          </a:xfrm>
          <a:prstGeom prst="ellipse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8562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B4A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350008"/>
            <a:ext cx="544068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家計診断・教育費・老後・NISA/iDeCoまでトータル相談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886200"/>
            <a:ext cx="5715000" cy="1965960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3886200"/>
            <a:ext cx="5715000" cy="8229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1208" y="4069080"/>
            <a:ext cx="411480" cy="411480"/>
          </a:xfrm>
          <a:prstGeom prst="ellipse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" y="40507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B4A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4544568"/>
            <a:ext cx="544068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初回オンライン相談受付中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8776" y="3886200"/>
            <a:ext cx="5715000" cy="196596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8776" y="3886200"/>
            <a:ext cx="5715000" cy="8229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45936" y="4069080"/>
            <a:ext cx="411480" cy="411480"/>
          </a:xfrm>
          <a:prstGeom prst="ellipse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40507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B4A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4544568"/>
            <a:ext cx="544068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URL: https://fp-makikatsume.com/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889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0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12 /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